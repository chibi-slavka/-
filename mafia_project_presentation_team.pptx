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321040" y="640080"/>
            <a:ext cx="3108960" cy="3108960"/>
          </a:xfrm>
          <a:prstGeom prst="ellipse">
            <a:avLst/>
          </a:prstGeom>
          <a:solidFill>
            <a:srgbClr val="443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2926080"/>
            <a:ext cx="1920240" cy="1920240"/>
          </a:xfrm>
          <a:prstGeom prst="ellipse">
            <a:avLst/>
          </a:prstGeom>
          <a:solidFill>
            <a:srgbClr val="262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31520"/>
            <a:ext cx="109728" cy="5394960"/>
          </a:xfrm>
          <a:prstGeom prst="rect">
            <a:avLst/>
          </a:prstGeom>
          <a:solidFill>
            <a:srgbClr val="DAA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960120"/>
            <a:ext cx="62179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DAAE5B"/>
                </a:solidFill>
                <a:latin typeface="Aptos"/>
              </a:defRPr>
            </a:pPr>
            <a:r>
              <a:t>НАШ КОМАНДНЫЙ ПРОЕКТ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6400800" cy="1097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6200" b="1">
                <a:solidFill>
                  <a:srgbClr val="F4F4F0"/>
                </a:solidFill>
                <a:latin typeface="Aptos"/>
              </a:defRPr>
            </a:pPr>
            <a:r>
              <a:t>MAFIA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88920"/>
            <a:ext cx="594360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2500" b="0">
                <a:solidFill>
                  <a:srgbClr val="AAB0BA"/>
                </a:solidFill>
                <a:latin typeface="Aptos"/>
              </a:defRPr>
            </a:pPr>
            <a:r>
              <a:t>Веб-приложение</a:t>
            </a:r>
          </a:p>
          <a:p>
            <a:pPr>
              <a:spcAft>
                <a:spcPts val="600"/>
              </a:spcAft>
              <a:defRPr sz="2500" b="0">
                <a:solidFill>
                  <a:srgbClr val="AAB0BA"/>
                </a:solidFill>
                <a:latin typeface="Aptos"/>
              </a:defRPr>
            </a:pPr>
            <a:r>
              <a:t>для игры в «Мафию»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251960"/>
            <a:ext cx="3383280" cy="594360"/>
          </a:xfrm>
          <a:prstGeom prst="roundRect">
            <a:avLst/>
          </a:prstGeom>
          <a:solidFill>
            <a:srgbClr val="1F232B"/>
          </a:solidFill>
          <a:ln w="12700">
            <a:solidFill>
              <a:srgbClr val="534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4407408"/>
            <a:ext cx="30632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5D391"/>
                </a:solidFill>
                <a:latin typeface="Aptos"/>
              </a:defRPr>
            </a:pPr>
            <a:r>
              <a:t>ДИЗАЙН  •  ИГРА  •  КОМАНДА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989320"/>
            <a:ext cx="5486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AAB0BA"/>
                </a:solidFill>
                <a:latin typeface="Aptos"/>
              </a:defRPr>
            </a:pPr>
            <a:r>
              <a:t>Презентация нашей команды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05840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4F4F0"/>
                </a:solidFill>
                <a:latin typeface="Aptos"/>
              </a:defRPr>
            </a:pPr>
            <a:r>
              <a:t>Идея проекта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713232" cy="50292"/>
          </a:xfrm>
          <a:prstGeom prst="rect">
            <a:avLst/>
          </a:prstGeom>
          <a:solidFill>
            <a:srgbClr val="DAA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600"/>
              </a:spcAft>
              <a:defRPr sz="1200" b="1">
                <a:solidFill>
                  <a:srgbClr val="DAAE5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5486400" cy="1143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F4F4F0"/>
                </a:solidFill>
                <a:latin typeface="Aptos"/>
              </a:defRPr>
            </a:pPr>
            <a:r>
              <a:t>Перенести атмосферу настольной игры</a:t>
            </a:r>
          </a:p>
          <a:p>
            <a:pPr>
              <a:spcAft>
                <a:spcPts val="600"/>
              </a:spcAft>
              <a:defRPr sz="2500" b="1">
                <a:solidFill>
                  <a:srgbClr val="F4F4F0"/>
                </a:solidFill>
                <a:latin typeface="Aptos"/>
              </a:defRPr>
            </a:pPr>
            <a:r>
              <a:t>в современный цифровой формат.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743200"/>
            <a:ext cx="5120640" cy="1097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AAB0BA"/>
                </a:solidFill>
                <a:latin typeface="Aptos"/>
              </a:defRPr>
            </a:pPr>
            <a:r>
              <a:t>Мы разрабатываем MAFIA — веб-приложение, которое объединяет интерфейс, игровые комнаты и профиль игрока в одной удобной платформе.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2286000" cy="1737360"/>
          </a:xfrm>
          <a:prstGeom prst="roundRect">
            <a:avLst/>
          </a:prstGeom>
          <a:solidFill>
            <a:srgbClr val="171B22"/>
          </a:solidFill>
          <a:ln w="12700">
            <a:solidFill>
              <a:srgbClr val="333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1527048"/>
            <a:ext cx="5029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AAE5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968" y="1938528"/>
            <a:ext cx="1883664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4F4F0"/>
                </a:solidFill>
                <a:latin typeface="Aptos"/>
              </a:defRPr>
            </a:pPr>
            <a:r>
              <a:t>Удобство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2377440"/>
            <a:ext cx="1883664" cy="667511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AAB0BA"/>
                </a:solidFill>
                <a:latin typeface="Aptos"/>
              </a:defRPr>
            </a:pPr>
            <a:r>
              <a:t>Понятная навигация</a:t>
            </a:r>
          </a:p>
          <a:p>
            <a:pPr>
              <a:spcAft>
                <a:spcPts val="600"/>
              </a:spcAft>
              <a:defRPr sz="1200" b="0">
                <a:solidFill>
                  <a:srgbClr val="AAB0BA"/>
                </a:solidFill>
                <a:latin typeface="Aptos"/>
              </a:defRPr>
            </a:pPr>
            <a:r>
              <a:t>и быстрые действия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1371600"/>
            <a:ext cx="2286000" cy="1737360"/>
          </a:xfrm>
          <a:prstGeom prst="roundRect">
            <a:avLst/>
          </a:prstGeom>
          <a:solidFill>
            <a:srgbClr val="171B22"/>
          </a:solidFill>
          <a:ln w="12700">
            <a:solidFill>
              <a:srgbClr val="333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08008" y="1527048"/>
            <a:ext cx="5029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AAE5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08008" y="1938528"/>
            <a:ext cx="1883664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4F4F0"/>
                </a:solidFill>
                <a:latin typeface="Aptos"/>
              </a:defRPr>
            </a:pPr>
            <a:r>
              <a:t>Атмосфера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8008" y="2377440"/>
            <a:ext cx="1883664" cy="667511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AAB0BA"/>
                </a:solidFill>
                <a:latin typeface="Aptos"/>
              </a:defRPr>
            </a:pPr>
            <a:r>
              <a:t>Тёмная тема</a:t>
            </a:r>
          </a:p>
          <a:p>
            <a:pPr>
              <a:spcAft>
                <a:spcPts val="600"/>
              </a:spcAft>
              <a:defRPr sz="1200" b="0">
                <a:solidFill>
                  <a:srgbClr val="AAB0BA"/>
                </a:solidFill>
                <a:latin typeface="Aptos"/>
              </a:defRPr>
            </a:pPr>
            <a:r>
              <a:t>и золотые акценты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429000"/>
            <a:ext cx="2286000" cy="1737360"/>
          </a:xfrm>
          <a:prstGeom prst="roundRect">
            <a:avLst/>
          </a:prstGeom>
          <a:solidFill>
            <a:srgbClr val="171B22"/>
          </a:solidFill>
          <a:ln w="12700">
            <a:solidFill>
              <a:srgbClr val="333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8" y="3584448"/>
            <a:ext cx="5029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AAE5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3995928"/>
            <a:ext cx="1883664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4F4F0"/>
                </a:solidFill>
                <a:latin typeface="Aptos"/>
              </a:defRPr>
            </a:pPr>
            <a:r>
              <a:t>Адаптивность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434840"/>
            <a:ext cx="1883664" cy="667511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AAB0BA"/>
                </a:solidFill>
                <a:latin typeface="Aptos"/>
              </a:defRPr>
            </a:pPr>
            <a:r>
              <a:t>Телефон</a:t>
            </a:r>
          </a:p>
          <a:p>
            <a:pPr>
              <a:spcAft>
                <a:spcPts val="600"/>
              </a:spcAft>
              <a:defRPr sz="1200" b="0">
                <a:solidFill>
                  <a:srgbClr val="AAB0BA"/>
                </a:solidFill>
                <a:latin typeface="Aptos"/>
              </a:defRPr>
            </a:pPr>
            <a:r>
              <a:t>и компьютер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3429000"/>
            <a:ext cx="2286000" cy="1737360"/>
          </a:xfrm>
          <a:prstGeom prst="roundRect">
            <a:avLst/>
          </a:prstGeom>
          <a:solidFill>
            <a:srgbClr val="171B22"/>
          </a:solidFill>
          <a:ln w="12700">
            <a:solidFill>
              <a:srgbClr val="333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8008" y="3584448"/>
            <a:ext cx="5029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AAE5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8" y="3995928"/>
            <a:ext cx="1883664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4F4F0"/>
                </a:solidFill>
                <a:latin typeface="Aptos"/>
              </a:defRPr>
            </a:pPr>
            <a:r>
              <a:t>Развитие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8008" y="4434840"/>
            <a:ext cx="1883664" cy="667511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AAB0BA"/>
                </a:solidFill>
                <a:latin typeface="Aptos"/>
              </a:defRPr>
            </a:pPr>
            <a:r>
              <a:t>Основа для</a:t>
            </a:r>
          </a:p>
          <a:p>
            <a:pPr>
              <a:spcAft>
                <a:spcPts val="600"/>
              </a:spcAft>
              <a:defRPr sz="1200" b="0">
                <a:solidFill>
                  <a:srgbClr val="AAB0BA"/>
                </a:solidFill>
                <a:latin typeface="Aptos"/>
              </a:defRPr>
            </a:pPr>
            <a:r>
              <a:t>онлайн-игры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05840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4F4F0"/>
                </a:solidFill>
                <a:latin typeface="Aptos"/>
              </a:defRPr>
            </a:pPr>
            <a:r>
              <a:t>Цель и задачи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713232" cy="50292"/>
          </a:xfrm>
          <a:prstGeom prst="rect">
            <a:avLst/>
          </a:prstGeom>
          <a:solidFill>
            <a:srgbClr val="DAA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600"/>
              </a:spcAft>
              <a:defRPr sz="1200" b="1">
                <a:solidFill>
                  <a:srgbClr val="DAAE5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411480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DAAE5B"/>
                </a:solidFill>
                <a:latin typeface="Aptos"/>
              </a:defRPr>
            </a:pPr>
            <a:r>
              <a:t>ЦЕЛЬ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4114800" cy="12344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F4F4F0"/>
                </a:solidFill>
                <a:latin typeface="Aptos"/>
              </a:defRPr>
            </a:pPr>
            <a:r>
              <a:t>Создать современное,</a:t>
            </a:r>
          </a:p>
          <a:p>
            <a:pPr>
              <a:spcAft>
                <a:spcPts val="600"/>
              </a:spcAft>
              <a:defRPr sz="2300" b="1">
                <a:solidFill>
                  <a:srgbClr val="F4F4F0"/>
                </a:solidFill>
                <a:latin typeface="Aptos"/>
              </a:defRPr>
            </a:pPr>
            <a:r>
              <a:t>удобное игровое веб-приложение.</a:t>
            </a:r>
          </a:p>
        </p:txBody>
      </p:sp>
      <p:sp>
        <p:nvSpPr>
          <p:cNvPr id="7" name="Rectangle 6"/>
          <p:cNvSpPr/>
          <p:nvPr/>
        </p:nvSpPr>
        <p:spPr>
          <a:xfrm>
            <a:off x="4983480" y="1371600"/>
            <a:ext cx="32004" cy="4389120"/>
          </a:xfrm>
          <a:prstGeom prst="rect">
            <a:avLst/>
          </a:prstGeom>
          <a:solidFill>
            <a:srgbClr val="DAA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40680" y="1325880"/>
            <a:ext cx="502920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DAAE5B"/>
                </a:solidFill>
                <a:latin typeface="Aptos"/>
              </a:defRPr>
            </a:pPr>
            <a:r>
              <a:t>ЗАДАЧИ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0680" y="1783080"/>
            <a:ext cx="5669280" cy="42976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F4F4F0"/>
                </a:solidFill>
                <a:latin typeface="Aptos"/>
              </a:defRPr>
            </a:pPr>
            <a:r>
              <a:t>•  Разработать адаптивный интерфейс.</a:t>
            </a:r>
          </a:p>
          <a:p>
            <a:pPr>
              <a:spcAft>
                <a:spcPts val="1300"/>
              </a:spcAft>
              <a:defRPr sz="1600">
                <a:solidFill>
                  <a:srgbClr val="F4F4F0"/>
                </a:solidFill>
                <a:latin typeface="Aptos"/>
              </a:defRPr>
            </a:pPr>
            <a:r>
              <a:t>•  Создать лобби и вход по коду.</a:t>
            </a:r>
          </a:p>
          <a:p>
            <a:pPr>
              <a:spcAft>
                <a:spcPts val="1300"/>
              </a:spcAft>
              <a:defRPr sz="1600">
                <a:solidFill>
                  <a:srgbClr val="F4F4F0"/>
                </a:solidFill>
                <a:latin typeface="Aptos"/>
              </a:defRPr>
            </a:pPr>
            <a:r>
              <a:t>•  Добавить профиль, уровень и опыт.</a:t>
            </a:r>
          </a:p>
          <a:p>
            <a:pPr>
              <a:spcAft>
                <a:spcPts val="1300"/>
              </a:spcAft>
              <a:defRPr sz="1600">
                <a:solidFill>
                  <a:srgbClr val="F4F4F0"/>
                </a:solidFill>
                <a:latin typeface="Aptos"/>
              </a:defRPr>
            </a:pPr>
            <a:r>
              <a:t>•  Реализовать анимации и Liquid Glass.</a:t>
            </a:r>
          </a:p>
          <a:p>
            <a:pPr>
              <a:spcAft>
                <a:spcPts val="1300"/>
              </a:spcAft>
              <a:defRPr sz="1600">
                <a:solidFill>
                  <a:srgbClr val="F4F4F0"/>
                </a:solidFill>
                <a:latin typeface="Aptos"/>
              </a:defRPr>
            </a:pPr>
            <a:r>
              <a:t>•  Подготовить основу для сервера.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05840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4F4F0"/>
                </a:solidFill>
                <a:latin typeface="Aptos"/>
              </a:defRPr>
            </a:pPr>
            <a:r>
              <a:t>Дизайн и пользовательский опыт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713232" cy="50292"/>
          </a:xfrm>
          <a:prstGeom prst="rect">
            <a:avLst/>
          </a:prstGeom>
          <a:solidFill>
            <a:srgbClr val="DAA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600"/>
              </a:spcAft>
              <a:defRPr sz="1200" b="1">
                <a:solidFill>
                  <a:srgbClr val="DAAE5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502920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DAAE5B"/>
                </a:solidFill>
                <a:latin typeface="Aptos"/>
              </a:defRPr>
            </a:pPr>
            <a:r>
              <a:t>ВИЗУАЛЬНАЯ СИСТЕМА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960120" cy="713232"/>
          </a:xfrm>
          <a:prstGeom prst="roundRect">
            <a:avLst/>
          </a:prstGeom>
          <a:solidFill>
            <a:srgbClr val="0A0C10"/>
          </a:solidFill>
          <a:ln>
            <a:solidFill>
              <a:srgbClr val="4B4F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697480"/>
            <a:ext cx="1115568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AAB0BA"/>
                </a:solidFill>
                <a:latin typeface="Aptos"/>
              </a:defRPr>
            </a:pPr>
            <a:r>
              <a:t>Графит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65960" y="1874519"/>
            <a:ext cx="960120" cy="713232"/>
          </a:xfrm>
          <a:prstGeom prst="roundRect">
            <a:avLst/>
          </a:prstGeom>
          <a:solidFill>
            <a:srgbClr val="1F232B"/>
          </a:solidFill>
          <a:ln>
            <a:solidFill>
              <a:srgbClr val="4B4F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92808" y="2697480"/>
            <a:ext cx="1115568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AAB0BA"/>
                </a:solidFill>
                <a:latin typeface="Aptos"/>
              </a:defRPr>
            </a:pPr>
            <a:r>
              <a:t>Стекло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874519"/>
            <a:ext cx="960120" cy="713232"/>
          </a:xfrm>
          <a:prstGeom prst="roundRect">
            <a:avLst/>
          </a:prstGeom>
          <a:solidFill>
            <a:srgbClr val="DAAE5B"/>
          </a:solidFill>
          <a:ln>
            <a:solidFill>
              <a:srgbClr val="4B4F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27248" y="2697480"/>
            <a:ext cx="1115568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AAB0BA"/>
                </a:solidFill>
                <a:latin typeface="Aptos"/>
              </a:defRPr>
            </a:pPr>
            <a:r>
              <a:t>Золото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874519"/>
            <a:ext cx="960120" cy="713232"/>
          </a:xfrm>
          <a:prstGeom prst="roundRect">
            <a:avLst/>
          </a:prstGeom>
          <a:solidFill>
            <a:srgbClr val="F4F4F0"/>
          </a:solidFill>
          <a:ln>
            <a:solidFill>
              <a:srgbClr val="4B4F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2697480"/>
            <a:ext cx="1115568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AAB0BA"/>
                </a:solidFill>
                <a:latin typeface="Aptos"/>
              </a:defRPr>
            </a:pPr>
            <a:r>
              <a:t>Светлый текст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46120"/>
            <a:ext cx="5212080" cy="21945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1300"/>
              </a:spcAft>
              <a:defRPr sz="1400">
                <a:solidFill>
                  <a:srgbClr val="F4F4F0"/>
                </a:solidFill>
                <a:latin typeface="Aptos"/>
              </a:defRPr>
            </a:pPr>
            <a:r>
              <a:t>•  Полупрозрачные панели и размытие.</a:t>
            </a:r>
          </a:p>
          <a:p>
            <a:pPr>
              <a:spcAft>
                <a:spcPts val="1300"/>
              </a:spcAft>
              <a:defRPr sz="1400">
                <a:solidFill>
                  <a:srgbClr val="F4F4F0"/>
                </a:solidFill>
                <a:latin typeface="Aptos"/>
              </a:defRPr>
            </a:pPr>
            <a:r>
              <a:t>•  Плавные переходы между экранами.</a:t>
            </a:r>
          </a:p>
          <a:p>
            <a:pPr>
              <a:spcAft>
                <a:spcPts val="1300"/>
              </a:spcAft>
              <a:defRPr sz="1400">
                <a:solidFill>
                  <a:srgbClr val="F4F4F0"/>
                </a:solidFill>
                <a:latin typeface="Aptos"/>
              </a:defRPr>
            </a:pPr>
            <a:r>
              <a:t>•  Мягкие блики и интерактивные кнопки.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1234440"/>
            <a:ext cx="2971800" cy="4892040"/>
          </a:xfrm>
          <a:prstGeom prst="roundRect">
            <a:avLst/>
          </a:prstGeom>
          <a:solidFill>
            <a:srgbClr val="05070A"/>
          </a:solidFill>
          <a:ln w="12700">
            <a:solidFill>
              <a:srgbClr val="4D5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068312" y="1417320"/>
            <a:ext cx="2642616" cy="4526280"/>
          </a:xfrm>
          <a:prstGeom prst="roundRect">
            <a:avLst/>
          </a:prstGeom>
          <a:solidFill>
            <a:srgbClr val="13161D"/>
          </a:solidFill>
          <a:ln w="12700">
            <a:solidFill>
              <a:srgbClr val="2E31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1691640"/>
            <a:ext cx="22402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DAAE5B"/>
                </a:solidFill>
                <a:latin typeface="Aptos"/>
              </a:defRPr>
            </a:pPr>
            <a:r>
              <a:t>MAFIA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2121408"/>
            <a:ext cx="224028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F4F4F0"/>
                </a:solidFill>
                <a:latin typeface="Aptos"/>
              </a:defRPr>
            </a:pPr>
            <a:r>
              <a:t>Твоя игра.</a:t>
            </a:r>
          </a:p>
          <a:p>
            <a:pPr algn="ctr">
              <a:spcAft>
                <a:spcPts val="600"/>
              </a:spcAft>
              <a:defRPr sz="1200" b="1">
                <a:solidFill>
                  <a:srgbClr val="F4F4F0"/>
                </a:solidFill>
                <a:latin typeface="Aptos"/>
              </a:defRPr>
            </a:pPr>
            <a:r>
              <a:t>Твои правила.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6912" y="2880360"/>
            <a:ext cx="2176272" cy="594360"/>
          </a:xfrm>
          <a:prstGeom prst="roundRect">
            <a:avLst/>
          </a:prstGeom>
          <a:solidFill>
            <a:srgbClr val="2F281D"/>
          </a:solidFill>
          <a:ln w="12700">
            <a:solidFill>
              <a:srgbClr val="DAA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88352" y="3044952"/>
            <a:ext cx="1993392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4F4F0"/>
                </a:solidFill>
                <a:latin typeface="Aptos"/>
              </a:defRPr>
            </a:pPr>
            <a:r>
              <a:t>Создать лобби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6912" y="3657600"/>
            <a:ext cx="2176272" cy="594360"/>
          </a:xfrm>
          <a:prstGeom prst="roundRect">
            <a:avLst/>
          </a:prstGeom>
          <a:solidFill>
            <a:srgbClr val="1F232B"/>
          </a:solidFill>
          <a:ln w="12700">
            <a:solidFill>
              <a:srgbClr val="43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88352" y="3822191"/>
            <a:ext cx="1993392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4F4F0"/>
                </a:solidFill>
                <a:latin typeface="Aptos"/>
              </a:defRPr>
            </a:pPr>
            <a:r>
              <a:t>Войти в лобби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6912" y="4480560"/>
            <a:ext cx="2176272" cy="822960"/>
          </a:xfrm>
          <a:prstGeom prst="roundRect">
            <a:avLst/>
          </a:prstGeom>
          <a:solidFill>
            <a:srgbClr val="1D2027"/>
          </a:solidFill>
          <a:ln w="12700">
            <a:solidFill>
              <a:srgbClr val="3E4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88352" y="4645152"/>
            <a:ext cx="1993392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AAB0BA"/>
                </a:solidFill>
                <a:latin typeface="Aptos"/>
              </a:defRPr>
            </a:pPr>
            <a:r>
              <a:t>Игрок • Уровень 1</a:t>
            </a:r>
          </a:p>
          <a:p>
            <a:pPr algn="ctr">
              <a:spcAft>
                <a:spcPts val="600"/>
              </a:spcAft>
              <a:defRPr sz="1000" b="0">
                <a:solidFill>
                  <a:srgbClr val="AAB0BA"/>
                </a:solidFill>
                <a:latin typeface="Aptos"/>
              </a:defRPr>
            </a:pPr>
            <a:r>
              <a:t>Профиль и настройки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6236208"/>
            <a:ext cx="329184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AAB0BA"/>
                </a:solidFill>
                <a:latin typeface="Aptos"/>
              </a:defRPr>
            </a:pPr>
            <a:r>
              <a:t>КОНЦЕПТ ИНТЕРФЕЙСА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05840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4F4F0"/>
                </a:solidFill>
                <a:latin typeface="Aptos"/>
              </a:defRPr>
            </a:pPr>
            <a:r>
              <a:t>Основные функции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713232" cy="50292"/>
          </a:xfrm>
          <a:prstGeom prst="rect">
            <a:avLst/>
          </a:prstGeom>
          <a:solidFill>
            <a:srgbClr val="DAA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600"/>
              </a:spcAft>
              <a:defRPr sz="1200" b="1">
                <a:solidFill>
                  <a:srgbClr val="DAAE5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429000" cy="1874519"/>
          </a:xfrm>
          <a:prstGeom prst="roundRect">
            <a:avLst/>
          </a:prstGeom>
          <a:solidFill>
            <a:srgbClr val="171B22"/>
          </a:solidFill>
          <a:ln w="12700">
            <a:solidFill>
              <a:srgbClr val="333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527048"/>
            <a:ext cx="5029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AAE5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938528"/>
            <a:ext cx="3026664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4F4F0"/>
                </a:solidFill>
                <a:latin typeface="Aptos"/>
              </a:defRPr>
            </a:pPr>
            <a:r>
              <a:t>Главный экран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377440"/>
            <a:ext cx="3026664" cy="804671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AAB0BA"/>
                </a:solidFill>
                <a:latin typeface="Aptos"/>
              </a:defRPr>
            </a:pPr>
            <a:r>
              <a:t>Профиль, уровень,</a:t>
            </a:r>
          </a:p>
          <a:p>
            <a:pPr>
              <a:spcAft>
                <a:spcPts val="600"/>
              </a:spcAft>
              <a:defRPr sz="1200" b="0">
                <a:solidFill>
                  <a:srgbClr val="AAB0BA"/>
                </a:solidFill>
                <a:latin typeface="Aptos"/>
              </a:defRPr>
            </a:pPr>
            <a:r>
              <a:t>навигация и режимы.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71600"/>
            <a:ext cx="3429000" cy="1874519"/>
          </a:xfrm>
          <a:prstGeom prst="roundRect">
            <a:avLst/>
          </a:prstGeom>
          <a:solidFill>
            <a:srgbClr val="171B22"/>
          </a:solidFill>
          <a:ln w="12700">
            <a:solidFill>
              <a:srgbClr val="333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1527048"/>
            <a:ext cx="5029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AAE5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1938528"/>
            <a:ext cx="3026664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4F4F0"/>
                </a:solidFill>
                <a:latin typeface="Aptos"/>
              </a:defRPr>
            </a:pPr>
            <a:r>
              <a:t>Игровые комнаты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2377440"/>
            <a:ext cx="3026664" cy="804671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AAB0BA"/>
                </a:solidFill>
                <a:latin typeface="Aptos"/>
              </a:defRPr>
            </a:pPr>
            <a:r>
              <a:t>Создание лобби,</a:t>
            </a:r>
          </a:p>
          <a:p>
            <a:pPr>
              <a:spcAft>
                <a:spcPts val="600"/>
              </a:spcAft>
              <a:defRPr sz="1200" b="0">
                <a:solidFill>
                  <a:srgbClr val="AAB0BA"/>
                </a:solidFill>
                <a:latin typeface="Aptos"/>
              </a:defRPr>
            </a:pPr>
            <a:r>
              <a:t>код приглашения.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371600"/>
            <a:ext cx="3429000" cy="1874519"/>
          </a:xfrm>
          <a:prstGeom prst="roundRect">
            <a:avLst/>
          </a:prstGeom>
          <a:solidFill>
            <a:srgbClr val="171B22"/>
          </a:solidFill>
          <a:ln w="12700">
            <a:solidFill>
              <a:srgbClr val="333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0768" y="1527048"/>
            <a:ext cx="5029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AAE5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1938528"/>
            <a:ext cx="3026664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4F4F0"/>
                </a:solidFill>
                <a:latin typeface="Aptos"/>
              </a:defRPr>
            </a:pPr>
            <a:r>
              <a:t>Экран ожидания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2377440"/>
            <a:ext cx="3026664" cy="804671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AAB0BA"/>
                </a:solidFill>
                <a:latin typeface="Aptos"/>
              </a:defRPr>
            </a:pPr>
            <a:r>
              <a:t>Список игроков</a:t>
            </a:r>
          </a:p>
          <a:p>
            <a:pPr>
              <a:spcAft>
                <a:spcPts val="600"/>
              </a:spcAft>
              <a:defRPr sz="1200" b="0">
                <a:solidFill>
                  <a:srgbClr val="AAB0BA"/>
                </a:solidFill>
                <a:latin typeface="Aptos"/>
              </a:defRPr>
            </a:pPr>
            <a:r>
              <a:t>и параметры комнаты.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11880"/>
            <a:ext cx="3429000" cy="1874519"/>
          </a:xfrm>
          <a:prstGeom prst="roundRect">
            <a:avLst/>
          </a:prstGeom>
          <a:solidFill>
            <a:srgbClr val="171B22"/>
          </a:solidFill>
          <a:ln w="12700">
            <a:solidFill>
              <a:srgbClr val="333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767328"/>
            <a:ext cx="5029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AAE5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178808"/>
            <a:ext cx="3026664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4F4F0"/>
                </a:solidFill>
                <a:latin typeface="Aptos"/>
              </a:defRPr>
            </a:pPr>
            <a:r>
              <a:t>Профиль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617720"/>
            <a:ext cx="3026664" cy="804671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AAB0BA"/>
                </a:solidFill>
                <a:latin typeface="Aptos"/>
              </a:defRPr>
            </a:pPr>
            <a:r>
              <a:t>Имя, XP и</a:t>
            </a:r>
          </a:p>
          <a:p>
            <a:pPr>
              <a:spcAft>
                <a:spcPts val="600"/>
              </a:spcAft>
              <a:defRPr sz="1200" b="0">
                <a:solidFill>
                  <a:srgbClr val="AAB0BA"/>
                </a:solidFill>
                <a:latin typeface="Aptos"/>
              </a:defRPr>
            </a:pPr>
            <a:r>
              <a:t>локальная статистика.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611880"/>
            <a:ext cx="3429000" cy="1874519"/>
          </a:xfrm>
          <a:prstGeom prst="roundRect">
            <a:avLst/>
          </a:prstGeom>
          <a:solidFill>
            <a:srgbClr val="171B22"/>
          </a:solidFill>
          <a:ln w="12700">
            <a:solidFill>
              <a:srgbClr val="333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36008" y="3767328"/>
            <a:ext cx="5029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AAE5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008" y="4178808"/>
            <a:ext cx="3026664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4F4F0"/>
                </a:solidFill>
                <a:latin typeface="Aptos"/>
              </a:defRPr>
            </a:pPr>
            <a:r>
              <a:t>Настройки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6008" y="4617720"/>
            <a:ext cx="3026664" cy="804671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AAB0BA"/>
                </a:solidFill>
                <a:latin typeface="Aptos"/>
              </a:defRPr>
            </a:pPr>
            <a:r>
              <a:t>Персонализация</a:t>
            </a:r>
          </a:p>
          <a:p>
            <a:pPr>
              <a:spcAft>
                <a:spcPts val="600"/>
              </a:spcAft>
              <a:defRPr sz="1200" b="0">
                <a:solidFill>
                  <a:srgbClr val="AAB0BA"/>
                </a:solidFill>
                <a:latin typeface="Aptos"/>
              </a:defRPr>
            </a:pPr>
            <a:r>
              <a:t>интерфейса.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611880"/>
            <a:ext cx="3429000" cy="1874519"/>
          </a:xfrm>
          <a:prstGeom prst="roundRect">
            <a:avLst/>
          </a:prstGeom>
          <a:solidFill>
            <a:srgbClr val="171B22"/>
          </a:solidFill>
          <a:ln w="12700">
            <a:solidFill>
              <a:srgbClr val="333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30768" y="3767328"/>
            <a:ext cx="5029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AAE5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0768" y="4178808"/>
            <a:ext cx="3026664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4F4F0"/>
                </a:solidFill>
                <a:latin typeface="Aptos"/>
              </a:defRPr>
            </a:pPr>
            <a:r>
              <a:t>Демо-партия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0768" y="4617720"/>
            <a:ext cx="3026664" cy="804671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AAB0BA"/>
                </a:solidFill>
                <a:latin typeface="Aptos"/>
              </a:defRPr>
            </a:pPr>
            <a:r>
              <a:t>Проверка сценариев</a:t>
            </a:r>
          </a:p>
          <a:p>
            <a:pPr>
              <a:spcAft>
                <a:spcPts val="600"/>
              </a:spcAft>
              <a:defRPr sz="1200" b="0">
                <a:solidFill>
                  <a:srgbClr val="AAB0BA"/>
                </a:solidFill>
                <a:latin typeface="Aptos"/>
              </a:defRPr>
            </a:pPr>
            <a:r>
              <a:t>игрового процесса.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05840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4F4F0"/>
                </a:solidFill>
                <a:latin typeface="Aptos"/>
              </a:defRPr>
            </a:pPr>
            <a:r>
              <a:t>Технологии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713232" cy="50292"/>
          </a:xfrm>
          <a:prstGeom prst="rect">
            <a:avLst/>
          </a:prstGeom>
          <a:solidFill>
            <a:srgbClr val="DAA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600"/>
              </a:spcAft>
              <a:defRPr sz="1200" b="1">
                <a:solidFill>
                  <a:srgbClr val="DAAE5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2286000" cy="713232"/>
          </a:xfrm>
          <a:prstGeom prst="roundRect">
            <a:avLst/>
          </a:prstGeom>
          <a:solidFill>
            <a:srgbClr val="1F232B"/>
          </a:solidFill>
          <a:ln w="12700">
            <a:solidFill>
              <a:srgbClr val="464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92024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DAAE5B"/>
                </a:solidFill>
                <a:latin typeface="Aptos"/>
              </a:defRPr>
            </a:pPr>
            <a:r>
              <a:t>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1536192"/>
            <a:ext cx="731520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4F4F0"/>
                </a:solidFill>
                <a:latin typeface="Aptos"/>
              </a:defRPr>
            </a:pPr>
            <a:r>
              <a:t>Структура экранов и элементов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95728"/>
            <a:ext cx="2286000" cy="713232"/>
          </a:xfrm>
          <a:prstGeom prst="roundRect">
            <a:avLst/>
          </a:prstGeom>
          <a:solidFill>
            <a:srgbClr val="1F232B"/>
          </a:solidFill>
          <a:ln w="12700">
            <a:solidFill>
              <a:srgbClr val="464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578608"/>
            <a:ext cx="192024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DAAE5B"/>
                </a:solidFill>
                <a:latin typeface="Aptos"/>
              </a:defRPr>
            </a:pPr>
            <a:r>
              <a:t>CSS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560320"/>
            <a:ext cx="731520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4F4F0"/>
                </a:solidFill>
                <a:latin typeface="Aptos"/>
              </a:defRPr>
            </a:pPr>
            <a:r>
              <a:t>Оформление, адаптивность и стеклянные эффекты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419856"/>
            <a:ext cx="2286000" cy="713232"/>
          </a:xfrm>
          <a:prstGeom prst="roundRect">
            <a:avLst/>
          </a:prstGeom>
          <a:solidFill>
            <a:srgbClr val="1F232B"/>
          </a:solidFill>
          <a:ln w="12700">
            <a:solidFill>
              <a:srgbClr val="464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602736"/>
            <a:ext cx="192024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DAAE5B"/>
                </a:solidFill>
                <a:latin typeface="Aptos"/>
              </a:defRPr>
            </a:pPr>
            <a:r>
              <a:t>JavaScript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584448"/>
            <a:ext cx="731520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4F4F0"/>
                </a:solidFill>
                <a:latin typeface="Aptos"/>
              </a:defRPr>
            </a:pPr>
            <a:r>
              <a:t>Интерактивность и логика интерфейса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443984"/>
            <a:ext cx="2286000" cy="713232"/>
          </a:xfrm>
          <a:prstGeom prst="roundRect">
            <a:avLst/>
          </a:prstGeom>
          <a:solidFill>
            <a:srgbClr val="1F232B"/>
          </a:solidFill>
          <a:ln w="12700">
            <a:solidFill>
              <a:srgbClr val="464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26864"/>
            <a:ext cx="192024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DAAE5B"/>
                </a:solidFill>
                <a:latin typeface="Aptos"/>
              </a:defRPr>
            </a:pPr>
            <a:r>
              <a:t>LocalStorage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4608576"/>
            <a:ext cx="731520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4F4F0"/>
                </a:solidFill>
                <a:latin typeface="Aptos"/>
              </a:defRPr>
            </a:pPr>
            <a:r>
              <a:t>Локальное сохранение данных браузера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623560"/>
            <a:ext cx="10698480" cy="566928"/>
          </a:xfrm>
          <a:prstGeom prst="roundRect">
            <a:avLst/>
          </a:prstGeom>
          <a:solidFill>
            <a:srgbClr val="2A2219"/>
          </a:solidFill>
          <a:ln w="12700">
            <a:solidFill>
              <a:srgbClr val="5F4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779008"/>
            <a:ext cx="1014984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F5D391"/>
                </a:solidFill>
                <a:latin typeface="Aptos"/>
              </a:defRPr>
            </a:pPr>
            <a:r>
              <a:t>Сейчас это клиентский прототип: синхронизация между устройствами требует сервера.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05840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4F4F0"/>
                </a:solidFill>
                <a:latin typeface="Aptos"/>
              </a:defRPr>
            </a:pPr>
            <a:r>
              <a:t>Командная работа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713232" cy="50292"/>
          </a:xfrm>
          <a:prstGeom prst="rect">
            <a:avLst/>
          </a:prstGeom>
          <a:solidFill>
            <a:srgbClr val="DAA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600"/>
              </a:spcAft>
              <a:defRPr sz="1200" b="1">
                <a:solidFill>
                  <a:srgbClr val="DAAE5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438912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F4F4F0"/>
                </a:solidFill>
                <a:latin typeface="Aptos"/>
              </a:defRPr>
            </a:pPr>
            <a:r>
              <a:t>Один проект — несколько направлений работы.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23160"/>
            <a:ext cx="4297680" cy="12344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AAB0BA"/>
                </a:solidFill>
                <a:latin typeface="Aptos"/>
              </a:defRPr>
            </a:pPr>
            <a:r>
              <a:t>Мы вместе планируем функции, обсуждаем дизайн, объединяем результаты и проверяем приложение.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417320"/>
            <a:ext cx="2651760" cy="1600200"/>
          </a:xfrm>
          <a:prstGeom prst="roundRect">
            <a:avLst/>
          </a:prstGeom>
          <a:solidFill>
            <a:srgbClr val="171B22"/>
          </a:solidFill>
          <a:ln w="12700">
            <a:solidFill>
              <a:srgbClr val="333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04688" y="1572768"/>
            <a:ext cx="5029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AAE5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04688" y="1984248"/>
            <a:ext cx="2249424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4F4F0"/>
                </a:solidFill>
                <a:latin typeface="Aptos"/>
              </a:defRPr>
            </a:pPr>
            <a:r>
              <a:t>Дизайн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04688" y="2423160"/>
            <a:ext cx="2249424" cy="5303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AAB0BA"/>
                </a:solidFill>
                <a:latin typeface="Aptos"/>
              </a:defRPr>
            </a:pPr>
            <a:r>
              <a:t>Макеты и визуальный стиль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417320"/>
            <a:ext cx="2651760" cy="1600200"/>
          </a:xfrm>
          <a:prstGeom prst="roundRect">
            <a:avLst/>
          </a:prstGeom>
          <a:solidFill>
            <a:srgbClr val="171B22"/>
          </a:solidFill>
          <a:ln w="12700">
            <a:solidFill>
              <a:srgbClr val="333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76488" y="1572768"/>
            <a:ext cx="5029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AAE5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6488" y="1984248"/>
            <a:ext cx="2249424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4F4F0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2423160"/>
            <a:ext cx="2249424" cy="5303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AAB0BA"/>
                </a:solidFill>
                <a:latin typeface="Aptos"/>
              </a:defRPr>
            </a:pPr>
            <a:r>
              <a:t>HTML, CSS и JavaScript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3383280"/>
            <a:ext cx="2651760" cy="1600200"/>
          </a:xfrm>
          <a:prstGeom prst="roundRect">
            <a:avLst/>
          </a:prstGeom>
          <a:solidFill>
            <a:srgbClr val="171B22"/>
          </a:solidFill>
          <a:ln w="12700">
            <a:solidFill>
              <a:srgbClr val="333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04688" y="3538728"/>
            <a:ext cx="5029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AAE5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04688" y="3950208"/>
            <a:ext cx="2249424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4F4F0"/>
                </a:solidFill>
                <a:latin typeface="Aptos"/>
              </a:defRPr>
            </a:pPr>
            <a:r>
              <a:t>Игровая логика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04688" y="4389120"/>
            <a:ext cx="2249424" cy="530351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AAB0BA"/>
                </a:solidFill>
                <a:latin typeface="Aptos"/>
              </a:defRPr>
            </a:pPr>
            <a:r>
              <a:t>Комнаты и сценарии партии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3383280"/>
            <a:ext cx="2651760" cy="1600200"/>
          </a:xfrm>
          <a:prstGeom prst="roundRect">
            <a:avLst/>
          </a:prstGeom>
          <a:solidFill>
            <a:srgbClr val="171B22"/>
          </a:solidFill>
          <a:ln w="12700">
            <a:solidFill>
              <a:srgbClr val="333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76488" y="3538728"/>
            <a:ext cx="5029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AAE5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3950208"/>
            <a:ext cx="2249424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4F4F0"/>
                </a:solidFill>
                <a:latin typeface="Aptos"/>
              </a:defRPr>
            </a:pPr>
            <a:r>
              <a:t>Тестирование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6488" y="4389120"/>
            <a:ext cx="2249424" cy="530351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AAB0BA"/>
                </a:solidFill>
                <a:latin typeface="Aptos"/>
              </a:defRPr>
            </a:pPr>
            <a:r>
              <a:t>Ошибки и удобство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5486400"/>
            <a:ext cx="548640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DAAE5B"/>
                </a:solidFill>
                <a:latin typeface="Aptos"/>
              </a:defRPr>
            </a:pPr>
            <a:r>
              <a:t>Мы распределяем обязанности в соответствии с навыками участников.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05840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4F4F0"/>
                </a:solidFill>
                <a:latin typeface="Aptos"/>
              </a:defRPr>
            </a:pPr>
            <a:r>
              <a:t>Трудности и решения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713232" cy="50292"/>
          </a:xfrm>
          <a:prstGeom prst="rect">
            <a:avLst/>
          </a:prstGeom>
          <a:solidFill>
            <a:srgbClr val="DAA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600"/>
              </a:spcAft>
              <a:defRPr sz="1200" b="1">
                <a:solidFill>
                  <a:srgbClr val="DAAE5B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29000" cy="3566160"/>
          </a:xfrm>
          <a:prstGeom prst="roundRect">
            <a:avLst/>
          </a:prstGeom>
          <a:solidFill>
            <a:srgbClr val="171B22"/>
          </a:solidFill>
          <a:ln w="12700">
            <a:solidFill>
              <a:srgbClr val="333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572768"/>
            <a:ext cx="5029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AAE5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84248"/>
            <a:ext cx="3026664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4F4F0"/>
                </a:solidFill>
                <a:latin typeface="Aptos"/>
              </a:defRPr>
            </a:pPr>
            <a:r>
              <a:t>Баланс дизайна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423160"/>
            <a:ext cx="3026664" cy="24963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AAB0BA"/>
                </a:solidFill>
                <a:latin typeface="Aptos"/>
              </a:defRPr>
            </a:pPr>
            <a:r>
              <a:t>Мы стараемся сочетать выразительный внешний вид с понятной навигацией и удобным чтением.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3566160"/>
          </a:xfrm>
          <a:prstGeom prst="roundRect">
            <a:avLst/>
          </a:prstGeom>
          <a:solidFill>
            <a:srgbClr val="171B22"/>
          </a:solidFill>
          <a:ln w="12700">
            <a:solidFill>
              <a:srgbClr val="333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572768"/>
            <a:ext cx="5029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AAE5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984248"/>
            <a:ext cx="3026664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4F4F0"/>
                </a:solidFill>
                <a:latin typeface="Aptos"/>
              </a:defRPr>
            </a:pPr>
            <a:r>
              <a:t>Плавность анимаций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423160"/>
            <a:ext cx="3026664" cy="24963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AAB0BA"/>
                </a:solidFill>
                <a:latin typeface="Aptos"/>
              </a:defRPr>
            </a:pPr>
            <a:r>
              <a:t>Мы подбираем длительность и эффекты, чтобы переходы выглядели плавно и естественно.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429000" cy="3566160"/>
          </a:xfrm>
          <a:prstGeom prst="roundRect">
            <a:avLst/>
          </a:prstGeom>
          <a:solidFill>
            <a:srgbClr val="171B22"/>
          </a:solidFill>
          <a:ln w="12700">
            <a:solidFill>
              <a:srgbClr val="333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1572768"/>
            <a:ext cx="5029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AAE5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1984248"/>
            <a:ext cx="3026664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4F4F0"/>
                </a:solidFill>
                <a:latin typeface="Aptos"/>
              </a:defRPr>
            </a:pPr>
            <a:r>
              <a:t>Работа без сервера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423160"/>
            <a:ext cx="3026664" cy="24963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AAB0BA"/>
                </a:solidFill>
                <a:latin typeface="Aptos"/>
              </a:defRPr>
            </a:pPr>
            <a:r>
              <a:t>Пока мы используем локальное хранение, а сетевую архитектуру планируем для следующего этапа.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577840"/>
            <a:ext cx="107899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D391"/>
                </a:solidFill>
                <a:latin typeface="Aptos"/>
              </a:defRPr>
            </a:pPr>
            <a:r>
              <a:t>Наш прототип помогает проверить идею до внедрения полноценной серверной части.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05840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4F4F0"/>
                </a:solidFill>
                <a:latin typeface="Aptos"/>
              </a:defRPr>
            </a:pPr>
            <a:r>
              <a:t>Планы развития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713232" cy="50292"/>
          </a:xfrm>
          <a:prstGeom prst="rect">
            <a:avLst/>
          </a:prstGeom>
          <a:solidFill>
            <a:srgbClr val="DAA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600"/>
              </a:spcAft>
              <a:defRPr sz="1200" b="1">
                <a:solidFill>
                  <a:srgbClr val="DAAE5B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057400" cy="91440"/>
          </a:xfrm>
          <a:prstGeom prst="roundRect">
            <a:avLst/>
          </a:prstGeom>
          <a:solidFill>
            <a:srgbClr val="DAA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0" y="1618488"/>
            <a:ext cx="475488" cy="475488"/>
          </a:xfrm>
          <a:prstGeom prst="ellipse">
            <a:avLst/>
          </a:prstGeom>
          <a:solidFill>
            <a:srgbClr val="DAA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755648"/>
            <a:ext cx="384048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  <a:defRPr sz="800" b="1">
                <a:solidFill>
                  <a:srgbClr val="0A0C1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23160"/>
            <a:ext cx="20574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F4F4F0"/>
                </a:solidFill>
                <a:latin typeface="Aptos"/>
              </a:defRPr>
            </a:pPr>
            <a:r>
              <a:t>Сервер и БД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54680"/>
            <a:ext cx="2057400" cy="10058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AAB0BA"/>
                </a:solidFill>
                <a:latin typeface="Aptos"/>
              </a:defRPr>
            </a:pPr>
            <a:r>
              <a:t>Общие комнаты</a:t>
            </a:r>
          </a:p>
          <a:p>
            <a:pPr algn="ctr">
              <a:spcAft>
                <a:spcPts val="600"/>
              </a:spcAft>
              <a:defRPr sz="1200" b="0">
                <a:solidFill>
                  <a:srgbClr val="AAB0BA"/>
                </a:solidFill>
                <a:latin typeface="Aptos"/>
              </a:defRPr>
            </a:pPr>
            <a:r>
              <a:t>и хранение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79" y="1828800"/>
            <a:ext cx="2057400" cy="91440"/>
          </a:xfrm>
          <a:prstGeom prst="roundRect">
            <a:avLst/>
          </a:prstGeom>
          <a:solidFill>
            <a:srgbClr val="DAA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703320" y="1618488"/>
            <a:ext cx="475488" cy="475488"/>
          </a:xfrm>
          <a:prstGeom prst="ellipse">
            <a:avLst/>
          </a:prstGeom>
          <a:solidFill>
            <a:srgbClr val="DAA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1755648"/>
            <a:ext cx="384048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  <a:defRPr sz="800" b="1">
                <a:solidFill>
                  <a:srgbClr val="0A0C1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79" y="2423160"/>
            <a:ext cx="20574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F4F4F0"/>
                </a:solidFill>
                <a:latin typeface="Aptos"/>
              </a:defRPr>
            </a:pPr>
            <a:r>
              <a:t>Авторизация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79" y="3154680"/>
            <a:ext cx="2057400" cy="10058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AAB0BA"/>
                </a:solidFill>
                <a:latin typeface="Aptos"/>
              </a:defRPr>
            </a:pPr>
            <a:r>
              <a:t>Учетные записи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57800" y="1828800"/>
            <a:ext cx="2057400" cy="91440"/>
          </a:xfrm>
          <a:prstGeom prst="roundRect">
            <a:avLst/>
          </a:prstGeom>
          <a:solidFill>
            <a:srgbClr val="DAA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35040" y="1618488"/>
            <a:ext cx="475488" cy="475488"/>
          </a:xfrm>
          <a:prstGeom prst="ellipse">
            <a:avLst/>
          </a:prstGeom>
          <a:solidFill>
            <a:srgbClr val="DAA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1755648"/>
            <a:ext cx="384048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  <a:defRPr sz="800" b="1">
                <a:solidFill>
                  <a:srgbClr val="0A0C1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423160"/>
            <a:ext cx="20574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F4F4F0"/>
                </a:solidFill>
                <a:latin typeface="Aptos"/>
              </a:defRPr>
            </a:pPr>
            <a:r>
              <a:t>Игровые роли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3154680"/>
            <a:ext cx="2057400" cy="10058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AAB0BA"/>
                </a:solidFill>
                <a:latin typeface="Aptos"/>
              </a:defRPr>
            </a:pPr>
            <a:r>
              <a:t>Голосование и фазы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19" y="1828800"/>
            <a:ext cx="2057400" cy="91440"/>
          </a:xfrm>
          <a:prstGeom prst="roundRect">
            <a:avLst/>
          </a:prstGeom>
          <a:solidFill>
            <a:srgbClr val="DAA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66759" y="1618488"/>
            <a:ext cx="475488" cy="475488"/>
          </a:xfrm>
          <a:prstGeom prst="ellipse">
            <a:avLst/>
          </a:prstGeom>
          <a:solidFill>
            <a:srgbClr val="DAA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755648"/>
            <a:ext cx="384048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  <a:defRPr sz="800" b="1">
                <a:solidFill>
                  <a:srgbClr val="0A0C1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19" y="2423160"/>
            <a:ext cx="20574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F4F4F0"/>
                </a:solidFill>
                <a:latin typeface="Aptos"/>
              </a:defRPr>
            </a:pPr>
            <a:r>
              <a:t>Онлайн-связь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19" y="3154680"/>
            <a:ext cx="2057400" cy="10058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AAB0BA"/>
                </a:solidFill>
                <a:latin typeface="Aptos"/>
              </a:defRPr>
            </a:pPr>
            <a:r>
              <a:t>Чат и real-time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21240" y="1828800"/>
            <a:ext cx="2057400" cy="91440"/>
          </a:xfrm>
          <a:prstGeom prst="roundRect">
            <a:avLst/>
          </a:prstGeom>
          <a:solidFill>
            <a:srgbClr val="DAA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698480" y="1618488"/>
            <a:ext cx="475488" cy="475488"/>
          </a:xfrm>
          <a:prstGeom prst="ellipse">
            <a:avLst/>
          </a:prstGeom>
          <a:solidFill>
            <a:srgbClr val="DAA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44200" y="1755648"/>
            <a:ext cx="384048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  <a:defRPr sz="800" b="1">
                <a:solidFill>
                  <a:srgbClr val="0A0C1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2423160"/>
            <a:ext cx="20574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F4F4F0"/>
                </a:solidFill>
                <a:latin typeface="Aptos"/>
              </a:defRPr>
            </a:pPr>
            <a:r>
              <a:t>Тестирование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3154680"/>
            <a:ext cx="2057400" cy="10058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AAB0BA"/>
                </a:solidFill>
                <a:latin typeface="Aptos"/>
              </a:defRPr>
            </a:pPr>
            <a:r>
              <a:t>Проверка и оптимизация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074920"/>
            <a:ext cx="1051560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F5D391"/>
                </a:solidFill>
                <a:latin typeface="Aptos"/>
              </a:defRPr>
            </a:pPr>
            <a:r>
              <a:t>Наша следующая большая цель — превратить локальный прототип в настоящую многопользовательскую игру.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46720" y="457200"/>
            <a:ext cx="3474720" cy="3474720"/>
          </a:xfrm>
          <a:prstGeom prst="ellipse">
            <a:avLst/>
          </a:prstGeom>
          <a:solidFill>
            <a:srgbClr val="443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3017520"/>
            <a:ext cx="2011680" cy="2011680"/>
          </a:xfrm>
          <a:prstGeom prst="ellipse">
            <a:avLst/>
          </a:prstGeom>
          <a:solidFill>
            <a:srgbClr val="262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27432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DAAE5B"/>
                </a:solidFill>
                <a:latin typeface="Aptos"/>
              </a:defRPr>
            </a:pPr>
            <a:r>
              <a:t>MAFIA  /  ИТОГ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6766560" cy="1371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F4F4F0"/>
                </a:solidFill>
                <a:latin typeface="Aptos"/>
              </a:defRPr>
            </a:pPr>
            <a:r>
              <a:t>От идеи — к игровому</a:t>
            </a:r>
          </a:p>
          <a:p>
            <a:pPr>
              <a:spcAft>
                <a:spcPts val="600"/>
              </a:spcAft>
              <a:defRPr sz="3400" b="1">
                <a:solidFill>
                  <a:srgbClr val="F4F4F0"/>
                </a:solidFill>
                <a:latin typeface="Aptos"/>
              </a:defRPr>
            </a:pPr>
            <a:r>
              <a:t>веб-приложению.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37560"/>
            <a:ext cx="6217920" cy="10058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AAB0BA"/>
                </a:solidFill>
                <a:latin typeface="Aptos"/>
              </a:defRPr>
            </a:pPr>
            <a:r>
              <a:t>Мы создаём основу современного игрового веб-приложения: атмосферный интерфейс, игровые комнаты и возможности для дальнейшего развития.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937760"/>
            <a:ext cx="3108960" cy="658368"/>
          </a:xfrm>
          <a:prstGeom prst="roundRect">
            <a:avLst/>
          </a:prstGeom>
          <a:solidFill>
            <a:srgbClr val="1F232B"/>
          </a:solidFill>
          <a:ln w="12700">
            <a:solidFill>
              <a:srgbClr val="524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138928"/>
            <a:ext cx="2743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F5D391"/>
                </a:solidFill>
                <a:latin typeface="Aptos"/>
              </a:defRPr>
            </a:pPr>
            <a:r>
              <a:t>СПАСИБО ЗА ВНИМАНИЕ ОТ НАШЕЙ КОМАНДЫ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126480"/>
            <a:ext cx="5486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AAB0BA"/>
                </a:solidFill>
                <a:latin typeface="Aptos"/>
              </a:defRPr>
            </a:pPr>
            <a:r>
              <a:t>Вопросы?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